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a73c6eb5ed443a" /><Relationship Type="http://schemas.openxmlformats.org/officeDocument/2006/relationships/extended-properties" Target="/docProps/app.xml" Id="Rd0358299ce67418b" /><Relationship Type="http://schemas.openxmlformats.org/officeDocument/2006/relationships/officeDocument" Target="/ppt/presentation.xml" Id="R9adf7b1a29604b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e9a31a95214eeb"/>
  </p:sldMasterIdLst>
  <p:notesMasterIdLst>
    <p:notesMasterId xmlns:r="http://schemas.openxmlformats.org/officeDocument/2006/relationships" r:id="R4b67cd5a9e124700"/>
  </p:notesMasterIdLst>
  <p:sldIdLst>
    <p:sldId xmlns:r="http://schemas.openxmlformats.org/officeDocument/2006/relationships" id="256" r:id="R828f529bbcbc44b1"/>
    <p:sldId xmlns:r="http://schemas.openxmlformats.org/officeDocument/2006/relationships" id="257" r:id="Rb29f7248dcab44a8"/>
    <p:sldId xmlns:r="http://schemas.openxmlformats.org/officeDocument/2006/relationships" id="258" r:id="R2b5a0f438801415e"/>
    <p:sldId xmlns:r="http://schemas.openxmlformats.org/officeDocument/2006/relationships" id="259" r:id="R22a6cb4ce66c4edc"/>
    <p:sldId xmlns:r="http://schemas.openxmlformats.org/officeDocument/2006/relationships" id="260" r:id="Ra0f687ddf00f46a6"/>
    <p:sldId xmlns:r="http://schemas.openxmlformats.org/officeDocument/2006/relationships" id="261" r:id="R6fc2f15082664f6c"/>
    <p:sldId xmlns:r="http://schemas.openxmlformats.org/officeDocument/2006/relationships" id="262" r:id="Rdec5e28a74794f5e"/>
    <p:sldId xmlns:r="http://schemas.openxmlformats.org/officeDocument/2006/relationships" id="263" r:id="Rc9431cded907418d"/>
    <p:sldId xmlns:r="http://schemas.openxmlformats.org/officeDocument/2006/relationships" id="264" r:id="R9d20f66de28f46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12e3ad8cd04e54" /><Relationship Type="http://schemas.openxmlformats.org/officeDocument/2006/relationships/slideMaster" Target="/ppt/slideMasters/slideMaster1.xml" Id="Re9e9a31a95214eeb" /><Relationship Type="http://schemas.openxmlformats.org/officeDocument/2006/relationships/notesMaster" Target="/ppt/notesMasters/notesMaster1.xml" Id="R4b67cd5a9e124700" /><Relationship Type="http://schemas.openxmlformats.org/officeDocument/2006/relationships/presProps" Target="/ppt/presProps.xml" Id="R7aaeb463d9514f1d" /><Relationship Type="http://schemas.openxmlformats.org/officeDocument/2006/relationships/tableStyles" Target="/ppt/tableStyles.xml" Id="R8fac64e66a134f92" /><Relationship Type="http://schemas.openxmlformats.org/officeDocument/2006/relationships/slide" Target="/ppt/slides/slide1.xml" Id="R828f529bbcbc44b1" /><Relationship Type="http://schemas.openxmlformats.org/officeDocument/2006/relationships/slide" Target="/ppt/slides/slide2.xml" Id="Rb29f7248dcab44a8" /><Relationship Type="http://schemas.openxmlformats.org/officeDocument/2006/relationships/slide" Target="/ppt/slides/slide3.xml" Id="R2b5a0f438801415e" /><Relationship Type="http://schemas.openxmlformats.org/officeDocument/2006/relationships/slide" Target="/ppt/slides/slide4.xml" Id="R22a6cb4ce66c4edc" /><Relationship Type="http://schemas.openxmlformats.org/officeDocument/2006/relationships/slide" Target="/ppt/slides/slide5.xml" Id="Ra0f687ddf00f46a6" /><Relationship Type="http://schemas.openxmlformats.org/officeDocument/2006/relationships/slide" Target="/ppt/slides/slide6.xml" Id="R6fc2f15082664f6c" /><Relationship Type="http://schemas.openxmlformats.org/officeDocument/2006/relationships/slide" Target="/ppt/slides/slide7.xml" Id="Rdec5e28a74794f5e" /><Relationship Type="http://schemas.openxmlformats.org/officeDocument/2006/relationships/slide" Target="/ppt/slides/slide8.xml" Id="Rc9431cded907418d" /><Relationship Type="http://schemas.openxmlformats.org/officeDocument/2006/relationships/slide" Target="/ppt/slides/slide9.xml" Id="R9d20f66de28f46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d6072c2a6142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c0ac8cc0f147ab" /><Relationship Type="http://schemas.openxmlformats.org/officeDocument/2006/relationships/notesMaster" Target="/ppt/notesMasters/notesMaster1.xml" Id="Rce4ad1b096344c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ffa4f90ffe4895" /><Relationship Type="http://schemas.openxmlformats.org/officeDocument/2006/relationships/notesMaster" Target="/ppt/notesMasters/notesMaster1.xml" Id="Re38506867ff24a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3a3f493b4c4f8f" /><Relationship Type="http://schemas.openxmlformats.org/officeDocument/2006/relationships/notesMaster" Target="/ppt/notesMasters/notesMaster1.xml" Id="Rf3a23b760bed4a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bfa13ec1174618" /><Relationship Type="http://schemas.openxmlformats.org/officeDocument/2006/relationships/notesMaster" Target="/ppt/notesMasters/notesMaster1.xml" Id="R67c6868c676748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6a0d63be09424f" /><Relationship Type="http://schemas.openxmlformats.org/officeDocument/2006/relationships/notesMaster" Target="/ppt/notesMasters/notesMaster1.xml" Id="Rb40b166f711a41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79da33f5874298" /><Relationship Type="http://schemas.openxmlformats.org/officeDocument/2006/relationships/notesMaster" Target="/ppt/notesMasters/notesMaster1.xml" Id="Re5b7586334c249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d4e88bb71a41f7" /><Relationship Type="http://schemas.openxmlformats.org/officeDocument/2006/relationships/notesMaster" Target="/ppt/notesMasters/notesMaster1.xml" Id="Ra13bbd81acba49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f6738556004672" /><Relationship Type="http://schemas.openxmlformats.org/officeDocument/2006/relationships/notesMaster" Target="/ppt/notesMasters/notesMaster1.xml" Id="R77a74f45b6d043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e0aa53a56c48a9" /><Relationship Type="http://schemas.openxmlformats.org/officeDocument/2006/relationships/notesMaster" Target="/ppt/notesMasters/notesMaster1.xml" Id="R609b75f57adc49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 do vídeo: apresentar o grupo e o objetivo da atividade.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TDE 1 - Interface Gráfica Python - 2026-02.pdf</a:t>
            </a:r>
          </a:p>
          <a:p xmlns:a="http://schemas.openxmlformats.org/drawingml/2006/main">
            <a:r>
              <a:t>- https://www.riverbankcomputing.com/static/Docs/PyQt6/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o problema que PyQt6 resolve e relacionar a escolha ao aplicativo do grupo.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https://www.riverbankcomputing.com/static/Docs/PyQt6/</a:t>
            </a:r>
          </a:p>
          <a:p xmlns:a="http://schemas.openxmlformats.org/drawingml/2006/main">
            <a:r>
              <a:t>- https://www.riverbankcomputing.com/static/Docs/PyQt6/api/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o fluxo com uv: `uv add PyQt6` é usado quando a dependência ainda não está no projeto; depois `uv sync` reproduz o ambiente e `uv run app.py` executa o aplicativo. Em seguida, apontar cada linha do exemplo mínimo.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https://www.riverbankcomputing.com/static/Docs/PyQt6/installation.html</a:t>
            </a:r>
          </a:p>
          <a:p xmlns:a="http://schemas.openxmlformats.org/drawingml/2006/main">
            <a:r>
              <a:t>- https://www.riverbankcomputing.com/static/Docs/PyQt6/python_shell.html</a:t>
            </a:r>
          </a:p>
          <a:p xmlns:a="http://schemas.openxmlformats.org/drawingml/2006/main">
            <a:r>
              <a:t>- https://docs.astral.sh/uv/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Ler o esqueleto de cima para baixo: imports, classe principal, telas, stack, conexões e ponto de entrada. Aponte a responsabilidade de cada bloco.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https://www.riverbankcomputing.com/static/Docs/PyQt6/python_shell.html</a:t>
            </a:r>
          </a:p>
          <a:p xmlns:a="http://schemas.openxmlformats.org/drawingml/2006/main">
            <a:r>
              <a:t>- https://www.riverbankcomputing.com/static/Docs/PyQt6/signals_slots.html</a:t>
            </a:r>
          </a:p>
          <a:p xmlns:a="http://schemas.openxmlformats.org/drawingml/2006/main">
            <a:r>
              <a:t>- https://www.riverbankcomputing.com/static/Docs/PyQt6/api/qtwidgets/qstackedwidget.html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o padrão de uma tela: herdar de QWidget, criar widgets, colocá-los em um layout e conectar eventos a métodos. Depois mostre que Tela 2 usa a mesma ideia com QFormLayout.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https://www.riverbankcomputing.com/static/Docs/PyQt6/api/qtwidgets/qwidget.html</a:t>
            </a:r>
          </a:p>
          <a:p xmlns:a="http://schemas.openxmlformats.org/drawingml/2006/main">
            <a:r>
              <a:t>- https://www.riverbankcomputing.com/static/Docs/PyQt6/api/qtwidgets/qvboxlayout.html</a:t>
            </a:r>
          </a:p>
          <a:p xmlns:a="http://schemas.openxmlformats.org/drawingml/2006/main">
            <a:r>
              <a:t>- https://www.riverbankcomputing.com/static/Docs/PyQt6/signals_slots.html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Executar a Tela 1 e marcar uma tarefa diretamente na lista. Em seguida, mostrar o trecho que atualiza o dicionário.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https://www.riverbankcomputing.com/static/Docs/PyQt6/api/qtwidgets/qlistwidget.html</a:t>
            </a:r>
          </a:p>
          <a:p xmlns:a="http://schemas.openxmlformats.org/drawingml/2006/main">
            <a:r>
              <a:t>- https://www.riverbankcomputing.com/static/Docs/PyQt6/signals_slots.html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Tentar salvar com título vazio, mostrar a mensagem e depois cadastrar uma tarefa com e sem descrição.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https://www.riverbankcomputing.com/static/Docs/PyQt6/api/qtwidgets/qlineedit.html</a:t>
            </a:r>
          </a:p>
          <a:p xmlns:a="http://schemas.openxmlformats.org/drawingml/2006/main">
            <a:r>
              <a:t>- https://www.riverbankcomputing.com/static/Docs/PyQt6/signals_slots.html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exemplos concretos, evitando dizer apenas que a biblioteca é fácil. Relacionar os limites à aplicação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https://www.riverbankcomputing.com/static/Docs/PyQt6/</a:t>
            </a:r>
          </a:p>
          <a:p xmlns:a="http://schemas.openxmlformats.org/drawingml/2006/main">
            <a:r>
              <a:t>- https://www.riverbankcomputing.com/static/Docs/PyQt6/license.html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Encerrar o vídeo indicando a documentação oficial e retomando a ideia principal: PyQt6 organiza uma aplicação desktop com widgets e sinais.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https://www.riverbankcomputing.com/static/Docs/PyQt6/</a:t>
            </a:r>
          </a:p>
          <a:p xmlns:a="http://schemas.openxmlformats.org/drawingml/2006/main">
            <a:r>
              <a:t>- https://www.riverbankcomputing.com/static/Docs/PyQt6/api/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3514a0b2d14b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bf0ffb0f294c31" /><Relationship Type="http://schemas.openxmlformats.org/officeDocument/2006/relationships/slideLayout" Target="/ppt/slideLayouts/slideLayout1.xml" Id="R5bf0be0e266d4e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f0be0e266d4e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1f5a66f49499c" /><Relationship Type="http://schemas.openxmlformats.org/officeDocument/2006/relationships/notesSlide" Target="/ppt/notesSlides/notesSlide1.xml" Id="R757dc481c0454b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542f525524c1a" /><Relationship Type="http://schemas.openxmlformats.org/officeDocument/2006/relationships/notesSlide" Target="/ppt/notesSlides/notesSlide2.xml" Id="R6f36922b77fc47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b6047193a464e" /><Relationship Type="http://schemas.openxmlformats.org/officeDocument/2006/relationships/notesSlide" Target="/ppt/notesSlides/notesSlide3.xml" Id="Rce3f2dd6cebb44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07a33e3ba45f2" /><Relationship Type="http://schemas.openxmlformats.org/officeDocument/2006/relationships/notesSlide" Target="/ppt/notesSlides/notesSlide4.xml" Id="R43eb6ca042284b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18b7554b4401c" /><Relationship Type="http://schemas.openxmlformats.org/officeDocument/2006/relationships/notesSlide" Target="/ppt/notesSlides/notesSlide5.xml" Id="R94abdd8769de4d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a862a95e54e30" /><Relationship Type="http://schemas.openxmlformats.org/officeDocument/2006/relationships/notesSlide" Target="/ppt/notesSlides/notesSlide6.xml" Id="R716ba05578e144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b9b5be42d4cc3" /><Relationship Type="http://schemas.openxmlformats.org/officeDocument/2006/relationships/notesSlide" Target="/ppt/notesSlides/notesSlide7.xml" Id="R9d8ae0120f394f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3702870384e75" /><Relationship Type="http://schemas.openxmlformats.org/officeDocument/2006/relationships/notesSlide" Target="/ppt/notesSlides/notesSlide8.xml" Id="Recbbeb24a5e54b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936e8cdcc45c3" /><Relationship Type="http://schemas.openxmlformats.org/officeDocument/2006/relationships/notesSlide" Target="/ppt/notesSlides/notesSlide9.xml" Id="Rfc5a97594fe643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850C2A-B14E-493D-AF38-8CE8F415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5D5D2-0AFD-4828-AD7F-23EFFE3A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C3E2B-9744-47E4-B729-B6D802E8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 i="0">
                <a:solidFill>
                  <a:srgbClr val="A8E1E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A8E1E1"/>
                </a:solidFill>
                <a:latin typeface="Arial"/>
                <a:ea typeface="Arial"/>
                <a:cs typeface="Arial"/>
              </a:rPr>
              <a:t>TDE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243A5-9984-4753-80F5-5880FB85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 de tarefas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 PyQt6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40EE7-DBE9-47C7-AB84-A1873E95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 i="0">
                <a:solidFill>
                  <a:srgbClr val="D8E8F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8E8F2"/>
                </a:solidFill>
                <a:latin typeface="Arial"/>
                <a:ea typeface="Arial"/>
                <a:cs typeface="Arial"/>
              </a:rPr>
              <a:t>Pesquisa, código e demonstração prática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5BBF1-DA08-4001-AC7C-77C61B0D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 i="0">
                <a:solidFill>
                  <a:srgbClr val="D8E8F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8E8F2"/>
                </a:solidFill>
                <a:latin typeface="Arial"/>
                <a:ea typeface="Arial"/>
                <a:cs typeface="Arial"/>
              </a:rPr>
              <a:t>Grupo: Integrantes 1, 2, 3, 4 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24683-C6E7-4BC8-97F6-D55A9F2E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716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Programação em 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4FF44-88F2-45D8-A054-648DD233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7645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850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Uma interface desktop em duas telas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28393-F59A-4D38-98EA-BF4F450E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62300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72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PyQt6 conecta Python ao framework Qt: widgets, layouts e sinais para construir uma aplicação funcional.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BA8D8-8984-4058-A64F-7D6CFED7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29150"/>
            <a:ext cx="23336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3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ED36D-0EF9-4194-9F00-0F592BEB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29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44A5A-195C-4001-8387-66EBC140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8006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58472-7223-41F5-B49F-1B1FCFD6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257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telas demonstradas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9C89C-2661-473C-8905-9633FD17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29150"/>
            <a:ext cx="23336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3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8E352-4030-4E3D-B25E-665FC89E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291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A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237E8D-84D2-43A8-8141-76587D0D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006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12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530A4-295F-45FD-8E1E-6B67E3AE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257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tempo do vídeo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C2FC16-845F-4F7C-B2C3-4E7E4737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E642CD-6F8F-4454-87CB-69E47905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A8C4D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8C4D6"/>
                </a:solidFill>
                <a:latin typeface="Arial"/>
                <a:ea typeface="Arial"/>
                <a:cs typeface="Arial"/>
              </a:rPr>
              <a:t>TDE 1  |  Programação em Python  |  PyQt6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C84B1A-257B-4D9F-AA3F-EFB2CEBB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A8C4D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8C4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73402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B4109-F935-4D83-A87F-8FF54432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01 | 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8D687-5463-42A2-8A25-58EB26B5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000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PyQt6 leva o Qt para o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F3C2D-0106-40D2-A4B4-72409164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Uma escolha voltada a aplicações desktop completas.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4A9E7-9C16-451E-89C8-2CBBA13F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90023-B971-4D6A-A274-C72820CB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O que 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D778D-87C7-4DA4-96E8-B37F1C00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Bindings Python para o Qt, um framework multiplataforma de interfaces gráficas.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673B3-4E51-46D9-9E61-5226E9EA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- Widgets prontos para janelas, campos, listas e botões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E72C7-BD6B-4A0F-8CE7-61E19929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- Layouts que organizam a interface sem coordenadas fixas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8E4A4-8D62-456B-A932-3F2E67F1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44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- Sinais e slots para reagir a ações do usuário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4450E-995D-48CC-8F21-8A19C41F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4762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3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5BBB4-4AD7-476D-B781-A386AC6E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479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 i="0">
                <a:solidFill>
                  <a:srgbClr val="1F6AA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F6AA5"/>
                </a:solidFill>
                <a:latin typeface="Arial"/>
                <a:ea typeface="Arial"/>
                <a:cs typeface="Arial"/>
              </a:rPr>
              <a:t>Onde faz sentido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25311-EC6A-4B65-8F3D-9CC4119E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- Ferramentas internas e utilitários de desktop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4C765-58A9-44C7-B79C-942D13A1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9570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- Aplicações que precisam de muitos componentes Qt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20077-32A2-4F3F-B57F-13801E00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910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- Sistemas multiplataforma com interface nativa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9C0E43-0B28-4C63-840B-49EE3F3B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0B6A4-2CCB-4861-A9D1-04143076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TDE 1  |  Programação em Python  |  PyQt6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D5D79-027A-4C9F-B737-1F870CAB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797781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199022-4816-4BBC-867B-2B71865B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02 | PRIMEIROS PASSOS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6E1DB-A1B1-46E5-AC2B-BE41A9C5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000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Instalação e primeira janela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ADA4E-E25F-4A95-B914-016CC52D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O menor caminho entre o ambiente e uma tela visível.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AEDD0-43E2-4325-AF8F-494B2D43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1. Sincronizar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7EE4B-EB94-4E3F-962E-CD380D9D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23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C7CBC-976C-4427-A983-28DDE136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304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uv sync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uv run app.py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6F393-22AA-4119-84FD-1222F9AB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2. Importar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D6551-D0CA-4FE9-BDEB-B41931CD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3143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23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6976D-7FBF-4A03-AC74-F04ECB2D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PyQt6.QtWidgets import (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QApplication, QWidget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F4C0D-8C86-488A-9969-0DAB9B6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3. Executar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892F4-3383-4A26-984C-721B1210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76500"/>
            <a:ext cx="33909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23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13A97-176A-4571-AF70-48E32D95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28900"/>
            <a:ext cx="3009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app = QApplication([])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window = QWidget()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window.show()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app.exec()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AE9D81-4257-4039-B437-70F8D999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9600"/>
            <a:ext cx="111252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3DC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23417-C241-4CF1-8967-01924E0B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725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O uv lê o pyproject.toml, respeita o uv.lock e executa o programa no ambiente sincronizado.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380DA-09BE-42E8-99E3-4D62D079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C00BC-6D4C-4DC0-B359-841F091D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TDE 1  |  Programação em Python  |  PyQt6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6339BC-F4AE-4D40-B297-B9CDEB8C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098131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5F1E8-FA2B-4DF8-96D2-A4D67F21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03 | CÓDIGO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9D372-8A40-403E-A570-D1AA84DD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000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Esqueleto do aplicativo: inicializar, montar e conectar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09574-ECEF-4DEB-BB6B-44A5634D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A janela principal coordena as duas telas e o loop de eventos.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4BAEE-2E63-4289-BC27-07078CFB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65722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123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CC27C-06F4-49D5-A84F-6ADDF020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19125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sys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PyQt6.QtWidgets import QApplication, QMainWindow, QStackedWidget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class JanelaPrincipal(QMainWindow):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def __init__(self):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super().__init__()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self.repo = RepositorioTarefas()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self.lista = TelaLista(self.repo)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self.adicionar = TelaAdicionar(self.repo)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self.paginas = QStackedWidget()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self.paginas.addWidget(self.lista)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self.paginas.addWidget(self.adicionar)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self.setCentralWidget(self.paginas)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self.lista.pedir_adicao.connect(self.mostrar_adicao)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self.adicionar.salvou.connect(self.mostrar_lista)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app = QApplication(sys.argv)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janela = JanelaPrincipal()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janela.show()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88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sys.exit(app.exec())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23A10-9FA5-4350-B35E-36D226E3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52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1  QApplication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8DAF1-C41A-4B96-ADB4-52F33374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955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Cria o ambiente Qt e mantém o loop de eventos.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B8221-1966-48CD-A4D0-39C15F48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62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 i="0">
                <a:solidFill>
                  <a:srgbClr val="1F6A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F6AA5"/>
                </a:solidFill>
                <a:latin typeface="Arial"/>
                <a:ea typeface="Arial"/>
                <a:cs typeface="Arial"/>
              </a:rPr>
              <a:t>2  JanelaPrincipal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71259-9D3F-4AF3-8942-4DCEF29C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052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É o controlador: compartilha o repositório e cria as telas.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D7600-2838-4079-A947-94EB0B15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71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3  QStackedWidget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FB67C-65BA-46AF-8521-4605A5A1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148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Mantém as páginas no mesmo lugar e alterna entre lista e cadastro.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22B7B-D0C3-4506-8C3D-29A9821C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219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4  connect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5B368-251C-4580-887A-8D2DB7E9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626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Liga uma ação do usuário ao método que atualiza a aplicação.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013CD-F0FE-4AC4-9E6A-ACC06AD7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859C2-734F-456F-886F-D056065F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TDE 1  |  Programação em Python  |  PyQt6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09C10-8AC2-4A28-8669-2A09F22B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167549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BB012B-ECD7-49DF-A698-8C60B453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04 | CÓDIGO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EDFE6-48B0-44C6-9150-076D905F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000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Esqueleto de uma tela: widget, layout e eventos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02BD4-A40D-4EF1-9E64-9A77231C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A mesma estrutura se repete na Tela 1 e na Tela 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1D113-CDE7-4093-B0DD-C47199AB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657225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123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E4ED1-9C04-48BE-A8EA-BE64007F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61912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class LinhaTarefa(QWidget):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status_alterado = pyqtSignal(bool)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def __init__(self, tarefa):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super().__init__()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self.checkbox = QCheckBox()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self.titulo = QLabel(tarefa["titulo"])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self.descricao = QLabel(tarefa["descricao"])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texto = QVBoxLayout()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texto.addWidget(self.titulo)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texto.addWidget(self.descricao)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layout = QHBoxLayout(self)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layout.addWidget(self.checkbox)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63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layout.addLayout(texto)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98C1E-1FE3-40F8-8524-0A13016C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66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1  QWidget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2AF65-026F-4111-8CD6-79FCC74B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098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A tela é um componente que pode conter outros widgets.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47E81-483F-4D57-A971-6ECD2B93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004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 i="0">
                <a:solidFill>
                  <a:srgbClr val="1F6A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F6AA5"/>
                </a:solidFill>
                <a:latin typeface="Arial"/>
                <a:ea typeface="Arial"/>
                <a:cs typeface="Arial"/>
              </a:rPr>
              <a:t>2  Widgets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0A013-FA1A-4D47-9FFA-DE677414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433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QCheckBox e QLabel mostram o título e a descrição; os campos da Tela 2 usam QLineEdit e QTextEdit.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D32B2-5F14-41ED-8DC5-5B5DA65C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48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3  Layout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BA2C7-BB13-4797-8F8E-0C609355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910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QVBoxLayout organiza os elementos verticalmente.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220DB-E23E-4F45-835C-9E4AF417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816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4  Sinais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88B77-EF82-4816-A357-795C4079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245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stateChanged emite status_alterado e mantém a tela reativa.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7ECEC-B651-4822-9227-7CEB3DCA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F9C01D-B049-4C5D-B085-AE210AD1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TDE 1  |  Programação em Python  |  PyQt6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CAFE5-BD0F-442C-B252-B7C0876E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181606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F2CF1F-1DD7-407D-89B4-5C95406E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05 | DEMONSTRAÇÃO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9CA9D-BAE5-4EF5-AEA6-3602112E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000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Tela 1: ver e concluir tarefas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5AF9E-BF55-41CD-B69D-85C3E88C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A lista transforma o status em uma ação visível.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47B69-15BB-4348-ABA9-B520F682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50292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3DC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5D7CB-5F09-440E-8D98-B5776790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Minhas tarefas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52B80-C792-4CFE-A276-745143EC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4457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C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629A9-9013-48DC-942D-624E843A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☐ Revisar o roteiro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2D177-4641-40C4-8D1D-2BDA550F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43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pendente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58349-0BF9-4628-B9ED-D47E1793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4457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C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9EBC7-31AE-46BC-BE9E-38DD9932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☑ Instalar PyQt6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A7F50-65A7-4109-B2F0-1B73DB90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771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0" i="0">
                <a:solidFill>
                  <a:srgbClr val="228B6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228B68"/>
                </a:solidFill>
                <a:latin typeface="Arial"/>
                <a:ea typeface="Arial"/>
                <a:cs typeface="Arial"/>
              </a:rPr>
              <a:t>concluída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30978-463B-4EE5-A46A-DA2553DA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4457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C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01294-BF04-4D61-8C44-5905E0C6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☐ Ensaiar o vídeo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DBC5C-4C29-4696-91EB-93F936E1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00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pendente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F9A6E7-933C-4F05-9B25-166D360A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 i="0">
                <a:solidFill>
                  <a:srgbClr val="1F6AA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F6AA5"/>
                </a:solidFill>
                <a:latin typeface="Arial"/>
                <a:ea typeface="Arial"/>
                <a:cs typeface="Arial"/>
              </a:rPr>
              <a:t>+ Adicionar tarefa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65979-E39D-4F48-AF01-6C0B5215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47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No código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8B7CAB-C1AF-4FB3-8C72-82737CF8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47625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123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6674BA-A60E-4D07-B53B-F09160DA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4381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linha = LinhaTarefa(tarefa)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linha.status_alterado.connect(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self._alterar_status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repositorio.alternar_concluida(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indice, concluida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linha.aplicar_status(concluida)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421D6E-0FB0-46AD-9BAB-E7A60841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197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O QListWidget organiza as linhas; cada LinhaTarefa centraliza o checkbox, o status e o sinal.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D5DA06-C813-4EAC-B6DE-9B772BB7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722D7C-E23F-440D-901D-98905356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TDE 1  |  Programação em Python  |  PyQt6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A288A5-BE71-45F8-A678-D2CDCE28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851156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E82E75-470C-4BAC-AD3C-B4411B70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06 | DEMONSTRAÇÃO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DC8CC-3EAB-458E-BC4A-F2506B0B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000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Tela 2: adicionar com validação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1F920-12F3-4F37-9808-E47FEC59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O formulário protege os dados antes de alterar a lista.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C686A-4176-48E4-B10D-55113B53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47625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3DC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44617-163C-4B44-97D5-4C458CD8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75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Adicionar tarefa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6F2AB-746C-405E-BA64-FDE876A8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1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Título *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044C7-2414-48AE-881C-F7097F8E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4095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C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C7357-ED77-4ED7-BD2F-4223A4D8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revisar o roteiro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896FE-9F25-47D6-8C09-7736C3B4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1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Descrição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88CDC-A342-406E-AF50-3E5E2CC4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4095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6F9A8-A899-439D-BA61-79B3FA65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 i="1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607086"/>
                </a:solidFill>
                <a:latin typeface="Arial"/>
                <a:ea typeface="Arial"/>
                <a:cs typeface="Arial"/>
              </a:rPr>
              <a:t>detalhes opcionais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8B935-3AA4-4902-946C-F9BC6891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86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1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Cancelar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20F737-7BFF-458D-BC53-8AE75E3C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086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1" i="0">
                <a:solidFill>
                  <a:srgbClr val="1F6A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6AA5"/>
                </a:solidFill>
                <a:latin typeface="Arial"/>
                <a:ea typeface="Arial"/>
                <a:cs typeface="Arial"/>
              </a:rPr>
              <a:t>Salvar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E4A7D-FCA3-4B2D-8481-8E7257E2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No código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F9856B-9C28-4702-B499-0874512D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47950"/>
            <a:ext cx="50673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123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8DBFDA-0650-4C94-B9EC-DF8E0F7C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0350"/>
            <a:ext cx="46863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titulo = campo.text().strip()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not titulo: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QMessageBox.warning(...)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repositorio.adicionar(titulo, descricao)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salvou.emit()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224F8-812C-4D59-8CD6-AD9EC187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19700"/>
            <a:ext cx="506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Salvar cria um dicionário em memória; Cancelar limpa os campos e não cria nada.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22E740-3B06-43BC-8B21-BA312DEA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2A8F4C-F979-422E-A48B-D79FE8E9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TDE 1  |  Programação em Python  |  PyQt6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2A588D-9CBA-4D11-9F54-A6DF74FC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963050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4CF66-180B-432B-AB7D-636B62BD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1" i="0">
                <a:solidFill>
                  <a:srgbClr val="1D9A9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D9A9A"/>
                </a:solidFill>
                <a:latin typeface="Arial"/>
                <a:ea typeface="Arial"/>
                <a:cs typeface="Arial"/>
              </a:rPr>
              <a:t>07 | ANÁLISE CRÍTICA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4EB5C-2EEC-4D61-8AAF-29DD2A2B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000" b="1" i="0">
                <a:solidFill>
                  <a:srgbClr val="12395B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2395B"/>
                </a:solidFill>
                <a:latin typeface="Arial"/>
                <a:ea typeface="Arial"/>
                <a:cs typeface="Arial"/>
              </a:rPr>
              <a:t>PyQt6 é forte quando a aplicação é desktop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4FB69-06EC-41B0-A042-1430C0E0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A escolha depende do público, da distribuição e da equipe.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709A1-0972-4A62-8855-9BF960E8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1054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9525">
            <a:solidFill>
              <a:srgbClr val="B9E1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B56B1-7467-4B52-ADAE-155634D9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 b="1" i="0">
                <a:solidFill>
                  <a:srgbClr val="228B6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28B68"/>
                </a:solidFill>
                <a:latin typeface="Arial"/>
                <a:ea typeface="Arial"/>
                <a:cs typeface="Arial"/>
              </a:rPr>
              <a:t>Usar quando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51112-0167-4297-8B76-F1961509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- A interface precisa de muitos widgets Qt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A7861-3D74-480C-B144-E8274F47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- O produto roda como aplicativo desktop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6F7D2-B4E7-4955-95E5-0921048F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- A equipe quer controlar eventos e layouts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52A92-F381-41C2-B19F-87B83F87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52650"/>
            <a:ext cx="51054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4F2"/>
          </a:solidFill>
          <a:ln xmlns:a="http://schemas.openxmlformats.org/drawingml/2006/main" w="9525">
            <a:solidFill>
              <a:srgbClr val="E7C5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9E0ED-EBF6-428B-AD21-7A468EF2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574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 b="1" i="0">
                <a:solidFill>
                  <a:srgbClr val="B453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4534B"/>
                </a:solidFill>
                <a:latin typeface="Arial"/>
                <a:ea typeface="Arial"/>
                <a:cs typeface="Arial"/>
              </a:rPr>
              <a:t>Avaliar antes de usar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B2F7B-FFF7-4953-8125-E01AD3B5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- Distribuição e tamanho do ambiente Qt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A3FC9-1AC8-4360-9663-FBA6E2A8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- Curva inicial maior que ferramentas web simples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78DBA-B672-4A7A-9D56-13607CB9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291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- Licença adequada ao produto e à distribuição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0CA8D-FA51-4B05-9316-9713F896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A demonstração usa armazenamento em memória por exigência do trabalho; um produto real precisaria decidir persistência e testes.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75E6F-ED21-4780-877B-A554129A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F3018-AC4C-4CBB-8FDA-DA08E6C9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TDE 1  |  Programação em Python  |  PyQt6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394F9C-04DE-4A39-8146-938B70C6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60708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070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691422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39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9382B-6D6E-4972-86BA-58EA76B5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1" i="0">
                <a:solidFill>
                  <a:srgbClr val="A8E1E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8E1E1"/>
                </a:solidFill>
                <a:latin typeface="Arial"/>
                <a:ea typeface="Arial"/>
                <a:cs typeface="Arial"/>
              </a:rPr>
              <a:t>08 | Próximos passos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6CCDB-A836-4170-819F-D5194356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Como continuar aprendendo PyQt6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AB2D7-A563-483A-90BF-0E0A4A70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 i="0">
                <a:solidFill>
                  <a:srgbClr val="D8E8F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8E8F2"/>
                </a:solidFill>
                <a:latin typeface="Arial"/>
                <a:ea typeface="Arial"/>
                <a:cs typeface="Arial"/>
              </a:rPr>
              <a:t>Uma trilha curta para sair da primeira tela e chegar a uma aplicação maior.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E7211-C08C-4E48-820B-10E2C528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D527A"/>
          </a:solidFill>
          <a:ln xmlns:a="http://schemas.openxmlformats.org/drawingml/2006/main" w="9525">
            <a:solidFill>
              <a:srgbClr val="3B76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A28EA-FE06-4FB3-A2B6-32F77DEF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 i="0">
                <a:solidFill>
                  <a:srgbClr val="A8E1E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A8E1E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56888-2B19-421A-B9CA-9C57F05E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C2457-B065-4B1C-AE1F-34FB517C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D8E8F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8E8F2"/>
                </a:solidFill>
                <a:latin typeface="Arial"/>
                <a:ea typeface="Arial"/>
                <a:cs typeface="Arial"/>
              </a:rPr>
              <a:t>Classes e sinais no site do Riverbank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E58A7-A366-4F6C-8825-6EE6D62F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6700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D527A"/>
          </a:solidFill>
          <a:ln xmlns:a="http://schemas.openxmlformats.org/drawingml/2006/main" w="9525">
            <a:solidFill>
              <a:srgbClr val="3B769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9EC2A-AE06-46F4-8773-A9A908F4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 i="0">
                <a:solidFill>
                  <a:srgbClr val="A8E1E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A8E1E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2652A-D983-4AFA-A21C-90561720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14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Exemplos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33AC9-5143-4B65-942A-1DBBBF7D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D8E8F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8E8F2"/>
                </a:solidFill>
                <a:latin typeface="Arial"/>
                <a:ea typeface="Arial"/>
                <a:cs typeface="Arial"/>
              </a:rPr>
              <a:t>Widgets, layouts e modelos Qt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8AA52-D208-46E7-9D79-6682ABFC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3238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D527A"/>
          </a:solidFill>
          <a:ln xmlns:a="http://schemas.openxmlformats.org/drawingml/2006/main" w="9525">
            <a:solidFill>
              <a:srgbClr val="3B76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4070D-AE4D-45E0-B224-7D8E0B9C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 i="0">
                <a:solidFill>
                  <a:srgbClr val="A8E1E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A8E1E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94CC3D-2BC3-4107-AA39-2AF5BDCD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14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Prática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58884-B18E-485D-8947-DB1D249D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 i="0">
                <a:solidFill>
                  <a:srgbClr val="D8E8F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8E8F2"/>
                </a:solidFill>
                <a:latin typeface="Arial"/>
                <a:ea typeface="Arial"/>
                <a:cs typeface="Arial"/>
              </a:rPr>
              <a:t>Trocar memória por persistência e testes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456FD-253E-4BB7-9FEA-285A9B79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400" b="1" i="0">
                <a:solidFill>
                  <a:srgbClr val="A8E1E1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A8E1E1"/>
                </a:solidFill>
                <a:latin typeface="Arial"/>
                <a:ea typeface="Arial"/>
                <a:cs typeface="Arial"/>
              </a:rPr>
              <a:t>Perguntas?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F4E06-0D25-4DE6-AEC8-C1FA0266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10540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Obrigado!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1B317A-D2EF-41C6-A694-264D61F9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B1FC28-C367-42E8-9990-FB17E002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A8C4D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8C4D6"/>
                </a:solidFill>
                <a:latin typeface="Arial"/>
                <a:ea typeface="Arial"/>
                <a:cs typeface="Arial"/>
              </a:rPr>
              <a:t>TDE 1  |  Programação em Python  |  PyQt6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FD33E5-2215-4910-BFFF-839F25C3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151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 i="0">
                <a:solidFill>
                  <a:srgbClr val="A8C4D6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8C4D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772038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2026-10-04T18:19:20.4330000Z</dcterms:created>
  <dcterms:modified xsi:type="dcterms:W3CDTF">2026-10-04T18:19:20.4330000Z</dcterms:modified>
</coreProperties>
</file>