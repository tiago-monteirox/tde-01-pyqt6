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8a73c6eb5ed443a" Type="http://schemas.openxmlformats.org/package/2006/relationships/metadata/core-properties" Target="docProps/core.xml"/><Relationship Id="R9adf7b1a29604b54" Type="http://schemas.openxmlformats.org/officeDocument/2006/relationships/officeDocument" Target="ppt/presentation.xml"/><Relationship Id="Rd0358299ce67418b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9a31a95214eeb"/>
  </p:sldMasterIdLst>
  <p:notesMasterIdLst>
    <p:notesMasterId xmlns:r="http://schemas.openxmlformats.org/officeDocument/2006/relationships" r:id="R4b67cd5a9e124700"/>
  </p:notesMasterIdLst>
  <p:sldIdLst>
    <p:sldId xmlns:r="http://schemas.openxmlformats.org/officeDocument/2006/relationships" id="256" r:id="R828f529bbcbc44b1"/>
    <p:sldId xmlns:r="http://schemas.openxmlformats.org/officeDocument/2006/relationships" id="257" r:id="Rb29f7248dcab44a8"/>
    <p:sldId xmlns:r="http://schemas.openxmlformats.org/officeDocument/2006/relationships" id="258" r:id="R2b5a0f438801415e"/>
    <p:sldId xmlns:r="http://schemas.openxmlformats.org/officeDocument/2006/relationships" id="259" r:id="R22a6cb4ce66c4edc"/>
    <p:sldId xmlns:r="http://schemas.openxmlformats.org/officeDocument/2006/relationships" id="260" r:id="Ra0f687ddf00f46a6"/>
    <p:sldId xmlns:r="http://schemas.openxmlformats.org/officeDocument/2006/relationships" id="261" r:id="R6fc2f15082664f6c"/>
    <p:sldId xmlns:r="http://schemas.openxmlformats.org/officeDocument/2006/relationships" id="262" r:id="Rdec5e28a74794f5e"/>
    <p:sldId xmlns:r="http://schemas.openxmlformats.org/officeDocument/2006/relationships" id="263" r:id="Rc9431cded907418d"/>
    <p:sldId xmlns:r="http://schemas.openxmlformats.org/officeDocument/2006/relationships" id="264" r:id="R9d20f66de28f46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312e3ad8cd04e54" Type="http://schemas.openxmlformats.org/officeDocument/2006/relationships/theme" Target="theme/theme1.xml"/><Relationship Id="R22a6cb4ce66c4edc" Type="http://schemas.openxmlformats.org/officeDocument/2006/relationships/slide" Target="slides/slide4.xml"/><Relationship Id="R2b5a0f438801415e" Type="http://schemas.openxmlformats.org/officeDocument/2006/relationships/slide" Target="slides/slide3.xml"/><Relationship Id="R4b67cd5a9e124700" Type="http://schemas.openxmlformats.org/officeDocument/2006/relationships/notesMaster" Target="notesMasters/notesMaster1.xml"/><Relationship Id="R6fc2f15082664f6c" Type="http://schemas.openxmlformats.org/officeDocument/2006/relationships/slide" Target="slides/slide6.xml"/><Relationship Id="R7aaeb463d9514f1d" Type="http://schemas.openxmlformats.org/officeDocument/2006/relationships/presProps" Target="presProps.xml"/><Relationship Id="R828f529bbcbc44b1" Type="http://schemas.openxmlformats.org/officeDocument/2006/relationships/slide" Target="slides/slide1.xml"/><Relationship Id="R8fac64e66a134f92" Type="http://schemas.openxmlformats.org/officeDocument/2006/relationships/tableStyles" Target="tableStyles.xml"/><Relationship Id="R9d20f66de28f4607" Type="http://schemas.openxmlformats.org/officeDocument/2006/relationships/slide" Target="slides/slide9.xml"/><Relationship Id="Ra0f687ddf00f46a6" Type="http://schemas.openxmlformats.org/officeDocument/2006/relationships/slide" Target="slides/slide5.xml"/><Relationship Id="Rb29f7248dcab44a8" Type="http://schemas.openxmlformats.org/officeDocument/2006/relationships/slide" Target="slides/slide2.xml"/><Relationship Id="Rc9431cded907418d" Type="http://schemas.openxmlformats.org/officeDocument/2006/relationships/slide" Target="slides/slide8.xml"/><Relationship Id="Rdec5e28a74794f5e" Type="http://schemas.openxmlformats.org/officeDocument/2006/relationships/slide" Target="slides/slide7.xml"/><Relationship Id="Re9e9a31a95214eeb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78d6072c2a61425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bc0ac8cc0f147ab" Type="http://schemas.openxmlformats.org/officeDocument/2006/relationships/slide" Target="../slides/slide1.xml"/><Relationship Id="Rce4ad1b096344c8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4ffa4f90ffe4895" Type="http://schemas.openxmlformats.org/officeDocument/2006/relationships/slide" Target="../slides/slide2.xml"/><Relationship Id="Re38506867ff24ac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b03a3f493b4c4f8f" Type="http://schemas.openxmlformats.org/officeDocument/2006/relationships/slide" Target="../slides/slide3.xml"/><Relationship Id="Rf3a23b760bed4a43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7c6868c67674868" Type="http://schemas.openxmlformats.org/officeDocument/2006/relationships/notesMaster" Target="../notesMasters/notesMaster1.xml"/><Relationship Id="Re3bfa13ec117461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9f6a0d63be09424f" Type="http://schemas.openxmlformats.org/officeDocument/2006/relationships/slide" Target="../slides/slide5.xml"/><Relationship Id="Rb40b166f711a41bd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679da33f5874298" Type="http://schemas.openxmlformats.org/officeDocument/2006/relationships/slide" Target="../slides/slide6.xml"/><Relationship Id="Re5b7586334c2498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a13bbd81acba4918" Type="http://schemas.openxmlformats.org/officeDocument/2006/relationships/notesMaster" Target="../notesMasters/notesMaster1.xml"/><Relationship Id="Rbad4e88bb71a41f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1f6738556004672" Type="http://schemas.openxmlformats.org/officeDocument/2006/relationships/slide" Target="../slides/slide8.xml"/><Relationship Id="R77a74f45b6d04355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0e0aa53a56c48a9" Type="http://schemas.openxmlformats.org/officeDocument/2006/relationships/slide" Target="../slides/slide9.xml"/><Relationship Id="R609b75f57adc492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 do vídeo: apresentar o grupo e o objetivo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TDE 1 - Interface Gráfica Python - 2026-02.pdf</a:t>
            </a:r>
          </a:p>
          <a:p xmlns:a="http://schemas.openxmlformats.org/drawingml/2006/main">
            <a:r>
              <a:t>- https://www.riverbankcomputing.com/static/Docs/PyQt6/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o problema que PyQt6 resolve e relacionar a escolha ao aplicativo do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</a:t>
            </a:r>
          </a:p>
          <a:p xmlns:a="http://schemas.openxmlformats.org/drawingml/2006/main">
            <a:r>
              <a:t>- https://www.riverbankcomputing.com/static/Docs/PyQt6/api/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a instalação com `uv add PyQt6` (ou pip install PyQt6 para quem não usa uv), percorrer cada linha do exemplo mínimo e executar com `uv run app.py`.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https://www.riverbankcomputing.com/static/Docs/PyQt6/installation.html</a:t>
            </a:r>
          </a:p>
          <a:p xmlns:a="http://schemas.openxmlformats.org/drawingml/2006/main">
            <a:r>
              <a:t>- https://www.riverbankcomputing.com/static/Docs/PyQt6/python_shell.html</a:t>
            </a:r>
          </a:p>
          <a:p xmlns:a="http://schemas.openxmlformats.org/drawingml/2006/main">
            <a:r>
              <a:t>- https://docs.astral.sh/uv/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Ler o esqueleto de cima para baixo: imports, classe principal, telas, stack, conexões e ponto de entrada. Aponte a responsabilidade de cada bloco.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https://www.riverbankcomputing.com/static/Docs/PyQt6/python_shell.html</a:t>
            </a:r>
          </a:p>
          <a:p xmlns:a="http://schemas.openxmlformats.org/drawingml/2006/main">
            <a:r>
              <a:t>- https://www.riverbankcomputing.com/static/Docs/PyQt6/signals_slots.html</a:t>
            </a:r>
          </a:p>
          <a:p xmlns:a="http://schemas.openxmlformats.org/drawingml/2006/main">
            <a:r>
              <a:t>- https://www.riverbankcomputing.com/static/Docs/PyQt6/api/qtwidgets/qstackedwidget.html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o padrão de um componente: herdar de QWidget, criar widgets, colocá-los em layouts e conectar eventos a sinais. Depois mostrar que as telas seguem a mesma ideia; a Tela 2 usa QFormLayout.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https://www.riverbankcomputing.com/static/Docs/PyQt6/api/qtwidgets/qwidget.html</a:t>
            </a:r>
          </a:p>
          <a:p xmlns:a="http://schemas.openxmlformats.org/drawingml/2006/main">
            <a:r>
              <a:t>- https://www.riverbankcomputing.com/static/Docs/PyQt6/api/qtwidgets/qvboxlayout.html</a:t>
            </a:r>
          </a:p>
          <a:p xmlns:a="http://schemas.openxmlformats.org/drawingml/2006/main">
            <a:r>
              <a:t>- https://www.riverbankcomputing.com/static/Docs/PyQt6/signals_slots.html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a Tela 1 e marcar uma tarefa diretamente na lista. Em seguida, mostrar o trecho que atualiza o dicionário.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https://www.riverbankcomputing.com/static/Docs/PyQt6/api/qtwidgets/qlistwidget.html</a:t>
            </a:r>
          </a:p>
          <a:p xmlns:a="http://schemas.openxmlformats.org/drawingml/2006/main">
            <a:r>
              <a:t>- https://www.riverbankcomputing.com/static/Docs/PyQt6/signals_slots.html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Tentar salvar com título vazio, mostrar a mensagem e depois cadastrar uma tarefa com e sem descrição.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https://www.riverbankcomputing.com/static/Docs/PyQt6/api/qtwidgets/qlineedit.html</a:t>
            </a:r>
          </a:p>
          <a:p xmlns:a="http://schemas.openxmlformats.org/drawingml/2006/main">
            <a:r>
              <a:t>- https://www.riverbankcomputing.com/static/Docs/PyQt6/signals_slots.html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exemplos concretos, evitando dizer apenas que a biblioteca é fácil. Relacionar os limites à aplicação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</a:t>
            </a:r>
          </a:p>
          <a:p xmlns:a="http://schemas.openxmlformats.org/drawingml/2006/main">
            <a:r>
              <a:t>- https://www.riverbankcomputing.com/static/Docs/PyQt6/license.html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o vídeo indicando a documentação oficial e retomando a ideia principal: PyQt6 organiza uma aplicação desktop com widgets e sinais.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</a:t>
            </a:r>
          </a:p>
          <a:p xmlns:a="http://schemas.openxmlformats.org/drawingml/2006/main">
            <a:r>
              <a:t>- https://www.riverbankcomputing.com/static/Docs/PyQt6/api/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93514a0b2d14bd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bf0be0e266d4ebb" Type="http://schemas.openxmlformats.org/officeDocument/2006/relationships/slideLayout" Target="../slideLayouts/slideLayout1.xml"/><Relationship Id="R9cbf0ffb0f294c31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f0be0e266d4e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57dc481c0454b25" Type="http://schemas.openxmlformats.org/officeDocument/2006/relationships/notesSlide" Target="../notesSlides/notesSlide1.xml"/><Relationship Id="R7ff1f5a66f49499c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1fe542f525524c1a" Type="http://schemas.openxmlformats.org/officeDocument/2006/relationships/slideLayout" Target="../slideLayouts/slideLayout1.xml"/><Relationship Id="R6f36922b77fc47b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c14b6047193a464e" Type="http://schemas.openxmlformats.org/officeDocument/2006/relationships/slideLayout" Target="../slideLayouts/slideLayout1.xml"/><Relationship Id="Rce3f2dd6cebb445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3eb6ca042284b2b" Type="http://schemas.openxmlformats.org/officeDocument/2006/relationships/notesSlide" Target="../notesSlides/notesSlide4.xml"/><Relationship Id="R51a07a33e3ba45f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fc18b7554b4401c" Type="http://schemas.openxmlformats.org/officeDocument/2006/relationships/slideLayout" Target="../slideLayouts/slideLayout1.xml"/><Relationship Id="R94abdd8769de4def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103a862a95e54e30" Type="http://schemas.openxmlformats.org/officeDocument/2006/relationships/slideLayout" Target="../slideLayouts/slideLayout1.xml"/><Relationship Id="R716ba05578e144a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9d8ae0120f394f9b" Type="http://schemas.openxmlformats.org/officeDocument/2006/relationships/notesSlide" Target="../notesSlides/notesSlide7.xml"/><Relationship Id="Rb2bb9b5be42d4cc3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c03702870384e75" Type="http://schemas.openxmlformats.org/officeDocument/2006/relationships/slideLayout" Target="../slideLayouts/slideLayout1.xml"/><Relationship Id="Recbbeb24a5e54b2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72f936e8cdcc45c3" Type="http://schemas.openxmlformats.org/officeDocument/2006/relationships/slideLayout" Target="../slideLayouts/slideLayout1.xml"/><Relationship Id="Rfc5a97594fe643be" Type="http://schemas.openxmlformats.org/officeDocument/2006/relationships/notesSlide" Target="../notesSlides/notesSlide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50C2A-B14E-493D-AF38-8CE8F415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5D5D2-0AFD-4828-AD7F-23EFFE3A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C3E2B-9744-47E4-B729-B6D802E8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A8E1E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8E1E1"/>
                </a:solidFill>
                <a:latin typeface="Arial"/>
                <a:ea typeface="Arial"/>
                <a:cs typeface="Arial"/>
              </a:rPr>
              <a:t>TDE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243A5-9984-4753-80F5-5880FB8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 de tarefas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PyQt6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40EE7-DBE9-47C7-AB84-A1873E95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Pesquisa, código e demonstração prática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5BBF1-DA08-4001-AC7C-77C61B0D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9552"/>
            <a:ext cx="32385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Grupo: Tiago Monteiro, Emili,</a:t>
            </a:r>
            <a:br>
              <a:rPr sz="1200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</a:br>
            <a:r>
              <a:rPr sz="1200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Igor, Gabriel e Lucas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24683-C6E7-4BC8-97F6-D55A9F2E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716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Programação em 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4FF44-88F2-45D8-A054-648DD23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85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Uma interface desktop em duas telas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28393-F59A-4D38-98EA-BF4F450E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PyQt6 conecta Python ao framework Qt: widgets, layouts e sinais para construir uma aplicação funcional.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BA8D8-8984-4058-A64F-7D6CFED7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ED36D-0EF9-4194-9F00-0F592BEB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44A5A-195C-4001-8387-66EBC140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006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58472-7223-41F5-B49F-1B1FCFD6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57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telas demonstradas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9C89C-2661-473C-8905-9633FD17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29150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8E352-4030-4E3D-B25E-665FC89E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29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37E8D-84D2-43A8-8141-76587D0D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006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12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530A4-295F-45FD-8E1E-6B67E3AE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57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tempo do vídeo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2FC16-845F-4F7C-B2C3-4E7E4737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642CD-6F8F-4454-87CB-69E47905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A8C4D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8C4D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84B1A-257B-4D9F-AA3F-EFB2CEBB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A8C4D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8C4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3402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B4109-F935-4D83-A87F-8FF54432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02 |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8D687-5463-42A2-8A25-58EB26B5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PyQt6 leva o Qt para o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F3C2D-0106-40D2-A4B4-72409164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Uma escolha voltada a aplicações desktop completas.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4A9E7-9C16-451E-89C8-2CBBA13F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90023-B971-4D6A-A274-C72820CB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O que 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D778D-87C7-4DA4-96E8-B37F1C00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Bindings Python para o Qt, um framework multiplataforma de interfaces gráficas.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673B3-4E51-46D9-9E61-5226E9EA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425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Widgets prontos para janelas, campos, listas e botões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E72C7-BD6B-4A0F-8CE7-61E19929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425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Layouts que organizam a interface sem coordenadas fixas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8E4A4-8D62-456B-A932-3F2E67F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425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Sinais e slots para reagir a ações do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4450E-995D-48CC-8F21-8A19C41F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5BBB4-4AD7-476D-B781-A386AC6E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F6AA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6AA5"/>
                </a:solidFill>
                <a:latin typeface="Arial"/>
                <a:ea typeface="Arial"/>
                <a:cs typeface="Arial"/>
              </a:rPr>
              <a:t>Onde faz sentido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25311-EC6A-4B65-8F3D-9CC4119E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Ferramentas internas e utilitários de desktop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4C765-58A9-44C7-B79C-942D13A1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Aplicações que precisam de muitos componentes Qt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20077-32A2-4F3F-B57F-13801E00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Sistemas multiplataforma com interface nativa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C0E43-0B28-4C63-840B-49EE3F3B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0B6A4-2CCB-4861-A9D1-04143076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D5D79-027A-4C9F-B737-1F870CAB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9778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99022-4816-4BBC-867B-2B71865B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03 | PRIMEIROS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6E1DB-A1B1-46E5-AC2B-BE41A9C5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Instalação e primeira janela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ADA4E-E25F-4A95-B914-016CC52D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O menor caminho entre o ambiente e uma tela visível.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AEDD0-43E2-4325-AF8F-494B2D43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095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1. Instalar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7EE4B-EB94-4E3F-962E-CD380D9D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78024"/>
            <a:ext cx="3108960" cy="2057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C7CBC-976C-4427-A983-28DDE136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633472"/>
            <a:ext cx="2743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uv</a:t>
            </a:r>
            <a:r>
              <a:rPr sz="13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add PyQt6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i="1">
                <a:solidFill>
                  <a:srgbClr val="9FB3C8"/>
                </a:solidFill>
                <a:latin typeface="Consolas"/>
                <a:ea typeface="Consolas"/>
                <a:cs typeface="Consolas"/>
              </a:rPr>
              <a:t># sem uv: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pip</a:t>
            </a:r>
            <a:r>
              <a:rPr sz="13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install PyQt6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6F393-22AA-4119-84FD-1222F9AB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20955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2. Escrever o app.py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D6551-D0CA-4FE9-BDEB-B41931CD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2478024"/>
            <a:ext cx="3931920" cy="2057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6976D-7FBF-4A03-AC74-F04ECB2D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633472"/>
            <a:ext cx="356616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PyQt6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QtWidgets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QApplication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QWidget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QApplication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window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QWidget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window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show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exec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F4C0D-8C86-488A-9969-0DAB9B6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095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3. Executar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892F4-3383-4A26-984C-721B1210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478024"/>
            <a:ext cx="3538728" cy="2057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13A97-176A-4571-AF70-48E32D95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633472"/>
            <a:ext cx="3200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uv</a:t>
            </a:r>
            <a:r>
              <a:rPr sz="13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run app.py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i="1">
                <a:solidFill>
                  <a:srgbClr val="9FB3C8"/>
                </a:solidFill>
                <a:latin typeface="Consolas"/>
                <a:ea typeface="Consolas"/>
                <a:cs typeface="Consolas"/>
              </a:rPr>
              <a:t># sem uv: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3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app.py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E9D81-4257-4039-B437-70F8D99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6320"/>
            <a:ext cx="11125200" cy="96012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23417-C241-4CF1-8967-01924E0B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4064"/>
            <a:ext cx="1038225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uv add registra o PyQt6 no pyproject.toml; uv run executa no ambiente do projeto.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380DA-09BE-42E8-99E3-4D62D079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C00BC-6D4C-4DC0-B359-841F091D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339BC-F4AE-4D40-B297-B9CDEB8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9813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5F1E8-FA2B-4DF8-96D2-A4D67F2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04 | CÓDIGO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9D372-8A40-403E-A570-D1AA84DD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Esqueleto do aplicativo: inicializar, montar e conectar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09574-ECEF-4DEB-BB6B-44A5634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janela principal coordena as duas telas e o loop de eventos.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4BAEE-2E63-4289-BC27-07078CFB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20824"/>
            <a:ext cx="6572250" cy="4224528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CC27C-06F4-49D5-A84F-6ADDF020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0552"/>
            <a:ext cx="6191250" cy="402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sys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PyQt6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QtWidgets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QApplication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QMainWindow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QStackedWidget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JanelaPrincipal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QMainWindow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50" i="0" b="1">
                <a:solidFill>
                  <a:srgbClr val="A8E1E1"/>
                </a:solidFill>
                <a:latin typeface="Consolas"/>
                <a:ea typeface="Consolas"/>
                <a:cs typeface="Consolas"/>
              </a:rPr>
              <a:t># 2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__init__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super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__init__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repo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RepositorioTarefas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lista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TelaLista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repo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adicionar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TelaAdicionar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repo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paginas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QStackedWidget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50" i="0" b="1">
                <a:solidFill>
                  <a:srgbClr val="A8E1E1"/>
                </a:solidFill>
                <a:latin typeface="Consolas"/>
                <a:ea typeface="Consolas"/>
                <a:cs typeface="Consolas"/>
              </a:rPr>
              <a:t># 3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paginas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addWidget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lista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paginas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addWidget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adicionar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setCentralWidget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paginas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lista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pedir_adicao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connect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mostrar_adicao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50" i="0" b="1">
                <a:solidFill>
                  <a:srgbClr val="A8E1E1"/>
                </a:solidFill>
                <a:latin typeface="Consolas"/>
                <a:ea typeface="Consolas"/>
                <a:cs typeface="Consolas"/>
              </a:rPr>
              <a:t># 4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adicionar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salvou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connect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mostrar_lista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adicionar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cancelou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connect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mostrar_lista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__name__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FDBA8C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050" i="0">
                <a:solidFill>
                  <a:srgbClr val="FDBA8C"/>
                </a:solidFill>
                <a:latin typeface="Consolas"/>
                <a:ea typeface="Consolas"/>
                <a:cs typeface="Consolas"/>
              </a:rPr>
              <a:t>__main__</a:t>
            </a:r>
            <a:r>
              <a:rPr sz="1050" i="0">
                <a:solidFill>
                  <a:srgbClr val="FDBA8C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QApplication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sys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argv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50" i="0" b="1">
                <a:solidFill>
                  <a:srgbClr val="A8E1E1"/>
                </a:solidFill>
                <a:latin typeface="Consolas"/>
                <a:ea typeface="Consolas"/>
                <a:cs typeface="Consolas"/>
              </a:rPr>
              <a:t># 1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janela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JanelaPrincipal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janela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show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sys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exit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exec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23A10-9FA5-4350-B35E-36D226E3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1  QApplication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8DAF1-C41A-4B96-ADB4-52F33374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955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Cria o ambiente Qt e mantém o loop de eventos.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B8221-1966-48CD-A4D0-39C15F48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F6A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6AA5"/>
                </a:solidFill>
                <a:latin typeface="Arial"/>
                <a:ea typeface="Arial"/>
                <a:cs typeface="Arial"/>
              </a:rPr>
              <a:t>2  JanelaPrincipal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71259-9D3F-4AF3-8942-4DCEF29C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05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É o controlador: compartilha o repositório e cria as telas.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D7600-2838-4079-A947-94EB0B15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3  QStackedWidget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FB67C-65BA-46AF-8521-4605A5A1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Mantém as páginas no mesmo lugar e alterna entre lista e cadastro.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22B7B-D0C3-4506-8C3D-29A9821C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19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4  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5B368-251C-4580-887A-8D2DB7E9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626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Liga uma ação do usuário ao método que atualiza a aplicação.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013CD-F0FE-4AC4-9E6A-ACC06AD7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859C2-734F-456F-886F-D056065F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09C10-8AC2-4A28-8669-2A09F22B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6754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B012B-ECD7-49DF-A698-8C60B453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05 | CÓDIGO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EDFE6-48B0-44C6-9150-076D905F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Esqueleto de um componente: widget, layout e eventos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02BD4-A40D-4EF1-9E64-9A77231C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O mesmo padrão vale para cada linha da lista e para as telas.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1D113-CDE7-4093-B0DD-C47199AB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3976"/>
            <a:ext cx="6572250" cy="3959352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E4ED1-9C04-48BE-A8EA-BE64007F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9424"/>
            <a:ext cx="6191250" cy="370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LinhaTarefa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QWidget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status_alterado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pyqtSignal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bool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63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__init__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tarefa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super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__init__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checkbox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QCheckBox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titulo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QLabel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tarefa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63" i="0">
                <a:solidFill>
                  <a:srgbClr val="FDBA8C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163" i="0">
                <a:solidFill>
                  <a:srgbClr val="FDBA8C"/>
                </a:solidFill>
                <a:latin typeface="Consolas"/>
                <a:ea typeface="Consolas"/>
                <a:cs typeface="Consolas"/>
              </a:rPr>
              <a:t>titulo</a:t>
            </a:r>
            <a:r>
              <a:rPr sz="1163" i="0">
                <a:solidFill>
                  <a:srgbClr val="FDBA8C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descricao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QLabel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tarefa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163" i="0">
                <a:solidFill>
                  <a:srgbClr val="FDBA8C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163" i="0">
                <a:solidFill>
                  <a:srgbClr val="FDBA8C"/>
                </a:solidFill>
                <a:latin typeface="Consolas"/>
                <a:ea typeface="Consolas"/>
                <a:cs typeface="Consolas"/>
              </a:rPr>
              <a:t>descricao</a:t>
            </a:r>
            <a:r>
              <a:rPr sz="1163" i="0">
                <a:solidFill>
                  <a:srgbClr val="FDBA8C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texto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QVBoxLayout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texto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addWidget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titulo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texto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addWidget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descricao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layout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63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QHBoxLayout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layout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addWidget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checkbox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layout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addLayout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texto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63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checkbox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toggled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connect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status_alterado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63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emit</a:t>
            </a:r>
            <a:r>
              <a:rPr sz="1163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98C1E-1FE3-40F8-8524-0A13016C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8840"/>
            <a:ext cx="3429000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1  QWidget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2AF65-026F-4111-8CD6-79FCC74B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87168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LinhaTarefa herda de QWidget e pode conter outros widgets.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47E81-483F-4D57-A971-6ECD2B93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90672"/>
            <a:ext cx="3429000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F6A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6AA5"/>
                </a:solidFill>
                <a:latin typeface="Arial"/>
                <a:ea typeface="Arial"/>
                <a:cs typeface="Arial"/>
              </a:rPr>
              <a:t>2  Widgets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0A013-FA1A-4D47-9FFA-DE677414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290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QCheckBox e QLabel mostram o título e a descrição; os campos da Tela 2 usam QLineEdit e QTextEdit.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D32B2-5F14-41ED-8DC5-5B5DA65C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61104"/>
            <a:ext cx="3429000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3 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BA2C7-BB13-4797-8F8E-0C609355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99432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QVBoxLayout empilha título e descrição; QHBoxLayout põe o checkbox ao lado.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220DB-E23E-4F45-835C-9E4AF417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02936"/>
            <a:ext cx="3429000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4  Sinais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88B77-EF82-4816-A357-795C4079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41264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toggled repassa o bool do checkbox pelo sinal status_alterado.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7ECEC-B651-4822-9227-7CEB3DCA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9C01D-B049-4C5D-B085-AE210AD1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CAFE5-BD0F-442C-B252-B7C0876E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81606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F2CF1F-1DD7-407D-89B4-5C95406E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06 | 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9CA9D-BAE5-4EF5-AEA6-3602112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Tela 1: ver e concluir tarefas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5AF9E-BF55-41CD-B69D-85C3E88C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lista transforma o status em uma ação visível.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47B69-15BB-4348-ABA9-B520F682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0292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5D7CB-5F09-440E-8D98-B5776790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Minhas tarefas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52B80-C792-4CFE-A276-745143EC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4457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629A9-9013-48DC-942D-624E843A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33"/>
                </a:solidFill>
                <a:latin typeface="Segoe UI Symbol"/>
                <a:ea typeface="Segoe UI Symbol"/>
                <a:cs typeface="Segoe UI Symbol"/>
                <a:sym typeface="Segoe UI Symbol"/>
              </a:rPr>
              <a:t>☐︎</a:t>
            </a:r>
            <a:r>
              <a:rPr sz="1275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Revisar o roteiro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2D177-4641-40C4-8D1D-2BDA550F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pendente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58349-0BF9-4628-B9ED-D47E1793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4457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9EBC7-31AE-46BC-BE9E-38DD993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07086"/>
                </a:solidFill>
                <a:latin typeface="Segoe UI Symbol"/>
                <a:ea typeface="Segoe UI Symbol"/>
                <a:cs typeface="Segoe UI Symbol"/>
                <a:sym typeface="Segoe UI Symbol"/>
              </a:rPr>
              <a:t>☑︎</a:t>
            </a:r>
            <a:r>
              <a:rPr sz="1275" b="1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 Instalar PyQt6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A7F50-65A7-4109-B2F0-1B73DB90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71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0" i="0">
                <a:solidFill>
                  <a:srgbClr val="228B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228B68"/>
                </a:solidFill>
                <a:latin typeface="Arial"/>
                <a:ea typeface="Arial"/>
                <a:cs typeface="Arial"/>
              </a:rPr>
              <a:t>concluída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30978-463B-4EE5-A46A-DA2553DA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457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1294-BF04-4D61-8C44-5905E0C6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33"/>
                </a:solidFill>
                <a:latin typeface="Segoe UI Symbol"/>
                <a:ea typeface="Segoe UI Symbol"/>
                <a:cs typeface="Segoe UI Symbol"/>
                <a:sym typeface="Segoe UI Symbol"/>
              </a:rPr>
              <a:t>☐︎</a:t>
            </a:r>
            <a:r>
              <a:rPr sz="1275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Ensaiar o vídeo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DBC5C-4C29-4696-91EB-93F936E1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00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pendente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9A6E7-933C-4F05-9B25-166D360A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 i="0">
                <a:solidFill>
                  <a:srgbClr val="1F6AA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F6AA5"/>
                </a:solidFill>
                <a:latin typeface="Arial"/>
                <a:ea typeface="Arial"/>
                <a:cs typeface="Arial"/>
              </a:rPr>
              <a:t>+ Adicionar tarefa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65979-E39D-4F48-AF01-6C0B5215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No código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B7CAB-C1AF-4FB3-8C72-82737CF8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47625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674BA-A60E-4D07-B53B-F09160D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381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linha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LinhaTarefa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tarefa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linha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status_alterado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connect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i="0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self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_alterar_status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repositorio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alternar_concluida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indice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concluida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linha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aplicar_status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concluida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21D6E-0FB0-46AD-9BAB-E7A60841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O QListWidget organiza as linhas; cada LinhaTarefa centraliza o checkbox, o status e o sinal.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5DA06-C813-4EAC-B6DE-9B772BB7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22D7C-E23F-440D-901D-98905356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288A5-BE71-45F8-A678-D2CDCE28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5115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82E75-470C-4BAC-AD3C-B4411B7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07 | 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DC8CC-3EAB-458E-BC4A-F2506B0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Tela 2: adicionar com validação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1F920-12F3-4F37-9808-E47FEC59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O formulário protege os dados antes de alterar a lista.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C686A-4176-48E4-B10D-55113B53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44617-163C-4B44-97D5-4C458CD8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Adicionar tarefa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6F2AB-746C-405E-BA64-FDE876A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Título *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044C7-2414-48AE-881C-F7097F8E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095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C7357-ED77-4ED7-BD2F-4223A4D8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Ex.: revisar o roteiro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896FE-9F25-47D6-8C09-7736C3B4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Descrição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88CDC-A342-406E-AF50-3E5E2CC4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6F9A8-A899-439D-BA61-79B3FA65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07086"/>
                </a:solidFill>
                <a:latin typeface="Arial"/>
                <a:ea typeface="Arial"/>
                <a:cs typeface="Arial"/>
              </a:rPr>
              <a:t>detalhes opcionais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8B935-3AA4-4902-946C-F9BC6891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86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Cancelar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0F737-7BFF-458D-BC53-8AE75E3C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86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 i="0">
                <a:solidFill>
                  <a:srgbClr val="1F6A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6AA5"/>
                </a:solidFill>
                <a:latin typeface="Arial"/>
                <a:ea typeface="Arial"/>
                <a:cs typeface="Arial"/>
              </a:rPr>
              <a:t>Salvar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E4A7D-FCA3-4B2D-8481-8E7257E2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No código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9856B-9C28-4702-B499-0874512D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50673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DBFDA-0650-4C94-B9EC-DF8E0F7C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46863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titulo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campo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strip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titulo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i="0">
                <a:solidFill>
                  <a:srgbClr val="5EEAD4"/>
                </a:solidFill>
                <a:latin typeface="Consolas"/>
                <a:ea typeface="Consolas"/>
                <a:cs typeface="Consolas"/>
              </a:rPr>
              <a:t>QMessageBox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warning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i="0">
                <a:solidFill>
                  <a:srgbClr val="F5A3E8"/>
                </a:solidFill>
                <a:latin typeface="Consolas"/>
                <a:ea typeface="Consolas"/>
                <a:cs typeface="Consolas"/>
              </a:rPr>
              <a:t>return</a:t>
            </a:r>
          </a:p>
          <a:p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repositorio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adicionar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titulo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descricao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i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salvou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i="0">
                <a:solidFill>
                  <a:srgbClr val="FDE68A"/>
                </a:solidFill>
                <a:latin typeface="Consolas"/>
                <a:ea typeface="Consolas"/>
                <a:cs typeface="Consolas"/>
              </a:rPr>
              <a:t>emit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i="0">
                <a:solidFill>
                  <a:srgbClr val="C9D4E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224F8-812C-4D59-8CD6-AD9EC187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19700"/>
            <a:ext cx="506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Salvar cria um dicionário em memória; Cancelar limpa os campos e volta para a lista.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2E740-3B06-43BC-8B21-BA312DEA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A8F4C-F979-422E-A48B-D79FE8E9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A588D-9CBA-4D11-9F54-A6DF74FC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6305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4CF66-180B-432B-AB7D-636B62BD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08 | ANÁLISE CRÍTICA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4EB5C-2EEC-4D61-8AAF-29DD2A2B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PyQt6 é forte quando a aplicação é desktop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4FB69-06EC-41B0-A042-1430C0E0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escolha depende do público, da distribuição e da equipe.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709A1-0972-4A62-8855-9BF960E8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105400" cy="333756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B9E1D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B56B1-7467-4B52-ADAE-155634D9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1" i="0">
                <a:solidFill>
                  <a:srgbClr val="228B6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28B68"/>
                </a:solidFill>
                <a:latin typeface="Arial"/>
                <a:ea typeface="Arial"/>
                <a:cs typeface="Arial"/>
              </a:rPr>
              <a:t>Usar quando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51112-0167-4297-8B76-F1961509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4368"/>
            <a:ext cx="409575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 interface precisa de muitos widgets Qt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A7861-3D74-480C-B144-E8274F47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8728"/>
            <a:ext cx="409575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 produto roda como aplicativo desktop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6F7D2-B4E7-4955-95E5-0921048F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087"/>
            <a:ext cx="409575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 equipe quer controlar eventos e layouts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52A92-F381-41C2-B19F-87B83F87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5105400" cy="333756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4F2"/>
          </a:solidFill>
          <a:ln xmlns:a="http://schemas.openxmlformats.org/drawingml/2006/main" w="9525">
            <a:solidFill>
              <a:srgbClr val="E7C5B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9E0ED-EBF6-428B-AD21-7A468EF2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1" i="0">
                <a:solidFill>
                  <a:srgbClr val="B453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4534B"/>
                </a:solidFill>
                <a:latin typeface="Arial"/>
                <a:ea typeface="Arial"/>
                <a:cs typeface="Arial"/>
              </a:rPr>
              <a:t>Avaliar antes de usar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B2F7B-FFF7-4953-8125-E01AD3B5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44368"/>
            <a:ext cx="409575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Distribuição e tamanho do ambiente Qt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A3FC9-1AC8-4360-9663-FBA6E2A8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38728"/>
            <a:ext cx="409575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Curva inicial maior que ferramentas web simples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78DBA-B672-4A7A-9D56-13607CB9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087"/>
            <a:ext cx="409575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Licença GPL v3 ou comercial; o PySide6 usa LGPL</a:t>
            </a:r>
          </a:p>
        </p:txBody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7448"/>
            <a:ext cx="409575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228600" indent="-228600">
              <a:lnSpc>
                <a:spcPct val="112000"/>
              </a:lnSpc>
              <a:buFont typeface="Arial"/>
              <a:buChar char="•"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Tkinter já vem com o Python e basta para telas simples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0CA8D-FA51-4B05-9316-9713F896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072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demonstração usa armazenamento em memória por exigência do trabalho; um produto real precisaria decidir persistência e testes.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75E6F-ED21-4780-877B-A554129A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F3018-AC4C-4CBB-8FDA-DA08E6C9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94F9C-04DE-4A39-8146-938B70C6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9142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9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9382B-6D6E-4972-86BA-58EA76B5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"/>
            <a:ext cx="8577072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A8E1E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E1E1"/>
                </a:solidFill>
                <a:latin typeface="Arial"/>
                <a:ea typeface="Arial"/>
                <a:cs typeface="Arial"/>
              </a:rPr>
              <a:t>09 |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6CCDB-A836-4170-819F-D5194356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824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continuar aprendendo PyQt6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AB2D7-A563-483A-90BF-0E0A4A7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016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Uma trilha curta para sair da primeira tela e chegar a uma aplicação maior.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E7211-C08C-4E48-820B-10E2C52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D527A"/>
          </a:solidFill>
          <a:ln xmlns:a="http://schemas.openxmlformats.org/drawingml/2006/main" w="9525">
            <a:solidFill>
              <a:srgbClr val="3B769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A28EA-FE06-4FB3-A2B6-32F77DEF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 i="0">
                <a:solidFill>
                  <a:srgbClr val="A8E1E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8E1E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56888-2B19-421A-B9CA-9C57F05E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C2457-B065-4B1C-AE1F-34FB517C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Classes e sinais no site do Riverbank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E58A7-A366-4F6C-8825-6EE6D62F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670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D527A"/>
          </a:solidFill>
          <a:ln xmlns:a="http://schemas.openxmlformats.org/drawingml/2006/main" w="9525">
            <a:solidFill>
              <a:srgbClr val="3B769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9EC2A-AE06-46F4-8773-A9A908F4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 i="0">
                <a:solidFill>
                  <a:srgbClr val="A8E1E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8E1E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2652A-D983-4AFA-A21C-9056172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14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Exemplos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33AC9-5143-4B65-942A-1DBBBF7D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Widgets, layouts e modelos Qt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8AA52-D208-46E7-9D79-6682ABFC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D527A"/>
          </a:solidFill>
          <a:ln xmlns:a="http://schemas.openxmlformats.org/drawingml/2006/main" w="9525">
            <a:solidFill>
              <a:srgbClr val="3B769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4070D-AE4D-45E0-B224-7D8E0B9C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 i="0">
                <a:solidFill>
                  <a:srgbClr val="A8E1E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8E1E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4CC3D-2BC3-4107-AA39-2AF5BDCD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14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58884-B18E-485D-8947-DB1D249D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Trocar memória por persistência e testes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F4E06-0D25-4DE6-AEC8-C1FA0266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105400"/>
            <a:ext cx="365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Obrigado!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B317A-D2EF-41C6-A694-264D61F9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1FC28-C367-42E8-9990-FB17E002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A8C4D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8C4D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D33E5-2215-4910-BFFF-839F25C3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A8C4D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8C4D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77203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2026-10-04T18:19:20.4330000Z</dcterms:created>
  <dcterms:modified xsi:type="dcterms:W3CDTF">2026-10-04T18:19:20.4330000Z</dcterms:modified>
</coreProperties>
</file>